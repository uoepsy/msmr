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F805-6801-4E1A-BB43-970983B76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817F4-B4BE-4290-8242-741C686F4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1AEBA-53B7-4055-B80D-89185208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ACFD6-0E47-4C80-B403-E365E3C2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58BB2-9E61-4B6A-8943-4DD770E4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64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D41C-793B-47B3-98DE-04A4E0F8F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AC5CC-81E3-4AEE-95B1-C0C103111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D841E-CB6E-4080-BD04-FFB6755D9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FB55B-FD99-4D63-A36B-C288E65F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68685-DF72-4992-95E3-EF27479E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940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DDEF-3CEE-41F0-B566-98790A0D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5A16D-5D3B-474A-935F-5580EF664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4BD98-F186-4237-9BB7-13AF3DE4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0F598-773F-4933-8BDB-C7B5F778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85F92-2FB8-443E-985A-001E38FC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62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620F-3C85-46E6-B5E8-8AC0659F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02076-FE2A-4A32-B148-C899B403C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DF777-A1C7-4DCD-B7E9-DE08DD745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08D18-2639-43E2-9D87-D8831562A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E5DB5-74E3-405B-BF4F-B18EA7158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20572-2B86-4E4B-9454-62EBE4E0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871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989A-3CC3-4D5A-9210-56402D8DB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1EA4A-798F-4C60-A8B4-65BE8B8BD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7240D-60BD-411F-A112-E5406E405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AE897-AD91-426F-82EB-6EA675C19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2274C-277B-417B-A8FD-E032E84D5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92AE81-527B-467E-B0EA-6DAEC7477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C3673D-465B-47B1-935B-4F34089E4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6DD024-AE23-4F7D-A39D-A2D483C48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60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DB3C-1A7A-4C36-91B1-03B5101CE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B39D6-11AA-4686-A532-E5A91594A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F13BB-08FB-45D2-BDC6-E0A824ED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42192-DAF7-42F1-965C-506867E1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11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50823D-F126-4B87-BCD4-F3A9100B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944C4-3624-4953-9201-37BB6071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B40AD-BD64-4E8B-A09D-C79B1979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30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8C45-F382-445A-86E4-22DD487C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5E8F4-0B6C-4605-861D-36784F058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9BF73-F2A4-405A-B1B4-B75A8E70F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4DF8A-B8CD-4D0D-A4D2-C87154E6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F5BB8-6533-4780-9F00-30957858F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93719-D4DB-4768-96A1-5F831347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17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D381-B44B-4B31-B13D-C71E410A8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7F6368-D5C2-42FF-879B-D1AF5CA4A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1978C-883E-4448-82BF-D14078A4B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AF0BD-53FF-42FE-9CB4-B6E64FD7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CFCA2-D7B0-482C-925F-0869BE70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7DB90-7866-40CB-9942-D43BCFAA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72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078F-1D7A-41B1-A2F9-B69A38FB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7BD70-6689-42A8-B58B-4BD77CBA3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EDE33-EF2F-4546-89C9-FAE25CBA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8B96D-0163-42C7-8D28-89189774D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6F81-818A-4A9B-8772-39FDA525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2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E0FCB2-1A64-4068-830F-79A3CC73B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48374-DEB4-4715-AFC3-A889875FB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D4307-0CF8-4892-B6C7-7F190869F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15F7B-5504-4C5F-B5E1-8F9280D9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43946-734A-44AE-886F-41D601DC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62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3DF21-4724-4937-8D84-D98D4E31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A6B42-5EA8-4480-8B52-4DE2759F3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9CF33-5196-4ADF-B4F4-22A1B564D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01DD3-AECF-4DC9-8CB4-1E203C0DC404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9F5C1-2BA0-4C05-9253-F1A498E87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2BB32-0289-4DB7-B48E-C8745CCC9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3175A-0018-4A44-AA8C-8AE13FEA4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25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D8AABFC-91BF-44DD-B38A-05C68B4E3F65}"/>
              </a:ext>
            </a:extLst>
          </p:cNvPr>
          <p:cNvSpPr/>
          <p:nvPr/>
        </p:nvSpPr>
        <p:spPr>
          <a:xfrm>
            <a:off x="8861612" y="2568387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Conservationist Behaviours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4BBA9F-652C-4ECA-A4CF-8943C498DC55}"/>
              </a:ext>
            </a:extLst>
          </p:cNvPr>
          <p:cNvSpPr/>
          <p:nvPr/>
        </p:nvSpPr>
        <p:spPr>
          <a:xfrm>
            <a:off x="1591235" y="672353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Attitudes Towards Environment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E58C51-5465-4BA9-BB92-66DDD5B2FB92}"/>
              </a:ext>
            </a:extLst>
          </p:cNvPr>
          <p:cNvSpPr/>
          <p:nvPr/>
        </p:nvSpPr>
        <p:spPr>
          <a:xfrm>
            <a:off x="1591235" y="2568387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Pro-environmental Social Norms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E77DE4-DA4F-447B-A8AB-9CDFFF4BAAC8}"/>
              </a:ext>
            </a:extLst>
          </p:cNvPr>
          <p:cNvSpPr/>
          <p:nvPr/>
        </p:nvSpPr>
        <p:spPr>
          <a:xfrm>
            <a:off x="1591235" y="4701986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Control over Environmental Behaviour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9C0B57-1133-4FE7-94A2-AE6476613ED4}"/>
              </a:ext>
            </a:extLst>
          </p:cNvPr>
          <p:cNvSpPr/>
          <p:nvPr/>
        </p:nvSpPr>
        <p:spPr>
          <a:xfrm>
            <a:off x="5226423" y="2568387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Pro-environmental Intentions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A352F0-D4A1-4B4E-8321-EE6CD877A1CC}"/>
              </a:ext>
            </a:extLst>
          </p:cNvPr>
          <p:cNvCxnSpPr>
            <a:stCxn id="5" idx="6"/>
            <a:endCxn id="10" idx="1"/>
          </p:cNvCxnSpPr>
          <p:nvPr/>
        </p:nvCxnSpPr>
        <p:spPr>
          <a:xfrm>
            <a:off x="4419601" y="1311089"/>
            <a:ext cx="1221027" cy="14443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253131-3E27-4833-80CB-4789CB170599}"/>
              </a:ext>
            </a:extLst>
          </p:cNvPr>
          <p:cNvCxnSpPr>
            <a:stCxn id="6" idx="6"/>
            <a:endCxn id="10" idx="2"/>
          </p:cNvCxnSpPr>
          <p:nvPr/>
        </p:nvCxnSpPr>
        <p:spPr>
          <a:xfrm>
            <a:off x="4419601" y="3207123"/>
            <a:ext cx="8068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09A676-03FF-4CC4-91FC-A073AE767FDD}"/>
              </a:ext>
            </a:extLst>
          </p:cNvPr>
          <p:cNvCxnSpPr>
            <a:stCxn id="7" idx="6"/>
            <a:endCxn id="10" idx="3"/>
          </p:cNvCxnSpPr>
          <p:nvPr/>
        </p:nvCxnSpPr>
        <p:spPr>
          <a:xfrm flipV="1">
            <a:off x="4419601" y="3658777"/>
            <a:ext cx="1221027" cy="16819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8F8B07-2391-45D7-89B5-9FD8CB6C5052}"/>
              </a:ext>
            </a:extLst>
          </p:cNvPr>
          <p:cNvCxnSpPr>
            <a:stCxn id="10" idx="6"/>
            <a:endCxn id="4" idx="2"/>
          </p:cNvCxnSpPr>
          <p:nvPr/>
        </p:nvCxnSpPr>
        <p:spPr>
          <a:xfrm>
            <a:off x="8054789" y="3207123"/>
            <a:ext cx="8068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B827B981-BE4A-4636-A02D-825F56D09418}"/>
              </a:ext>
            </a:extLst>
          </p:cNvPr>
          <p:cNvCxnSpPr>
            <a:stCxn id="5" idx="2"/>
            <a:endCxn id="6" idx="2"/>
          </p:cNvCxnSpPr>
          <p:nvPr/>
        </p:nvCxnSpPr>
        <p:spPr>
          <a:xfrm rot="10800000" flipV="1">
            <a:off x="1591235" y="1311089"/>
            <a:ext cx="12700" cy="1896034"/>
          </a:xfrm>
          <a:prstGeom prst="curvedConnector3">
            <a:avLst>
              <a:gd name="adj1" fmla="val 4341173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1BBD20F0-56C9-4231-89A3-7C07B8B9375B}"/>
              </a:ext>
            </a:extLst>
          </p:cNvPr>
          <p:cNvCxnSpPr>
            <a:cxnSpLocks/>
            <a:stCxn id="6" idx="2"/>
            <a:endCxn id="7" idx="2"/>
          </p:cNvCxnSpPr>
          <p:nvPr/>
        </p:nvCxnSpPr>
        <p:spPr>
          <a:xfrm rot="10800000" flipV="1">
            <a:off x="1591235" y="3207122"/>
            <a:ext cx="12700" cy="2133599"/>
          </a:xfrm>
          <a:prstGeom prst="curvedConnector3">
            <a:avLst>
              <a:gd name="adj1" fmla="val 4447055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0E2872EA-ACFD-42A7-B0F3-8C2AA8231948}"/>
              </a:ext>
            </a:extLst>
          </p:cNvPr>
          <p:cNvCxnSpPr>
            <a:stCxn id="5" idx="2"/>
            <a:endCxn id="7" idx="2"/>
          </p:cNvCxnSpPr>
          <p:nvPr/>
        </p:nvCxnSpPr>
        <p:spPr>
          <a:xfrm rot="10800000" flipV="1">
            <a:off x="1591235" y="1311088"/>
            <a:ext cx="12700" cy="4029633"/>
          </a:xfrm>
          <a:prstGeom prst="curvedConnector3">
            <a:avLst>
              <a:gd name="adj1" fmla="val 9000000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40C92B3-6461-4AC7-98D1-0BEE08A3424C}"/>
              </a:ext>
            </a:extLst>
          </p:cNvPr>
          <p:cNvSpPr txBox="1"/>
          <p:nvPr/>
        </p:nvSpPr>
        <p:spPr>
          <a:xfrm>
            <a:off x="5226423" y="213103"/>
            <a:ext cx="6708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Theory of Planned Behaviour (TPB)</a:t>
            </a:r>
          </a:p>
        </p:txBody>
      </p:sp>
    </p:spTree>
    <p:extLst>
      <p:ext uri="{BB962C8B-B14F-4D97-AF65-F5344CB8AC3E}">
        <p14:creationId xmlns:p14="http://schemas.microsoft.com/office/powerpoint/2010/main" val="207903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443498CB-071C-4124-B889-F8AB5DD9B41A}"/>
              </a:ext>
            </a:extLst>
          </p:cNvPr>
          <p:cNvSpPr/>
          <p:nvPr/>
        </p:nvSpPr>
        <p:spPr>
          <a:xfrm>
            <a:off x="8861610" y="2568388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Conservationist Behaviours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9B49A0E-07E0-4E3F-94DE-9C53995F24AD}"/>
              </a:ext>
            </a:extLst>
          </p:cNvPr>
          <p:cNvSpPr/>
          <p:nvPr/>
        </p:nvSpPr>
        <p:spPr>
          <a:xfrm>
            <a:off x="1241610" y="672354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Environmental Worldview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2C123CC-4B1D-404F-A145-16E8517B435D}"/>
              </a:ext>
            </a:extLst>
          </p:cNvPr>
          <p:cNvSpPr/>
          <p:nvPr/>
        </p:nvSpPr>
        <p:spPr>
          <a:xfrm>
            <a:off x="1228163" y="2568388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Awareness of Environmental Consequences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882D9D9-78E1-45EC-84C5-08FC55BC589D}"/>
              </a:ext>
            </a:extLst>
          </p:cNvPr>
          <p:cNvSpPr/>
          <p:nvPr/>
        </p:nvSpPr>
        <p:spPr>
          <a:xfrm>
            <a:off x="1214716" y="4701987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Environmental Responsibility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9770E7-B0A0-479F-8C4A-456435282A18}"/>
              </a:ext>
            </a:extLst>
          </p:cNvPr>
          <p:cNvSpPr/>
          <p:nvPr/>
        </p:nvSpPr>
        <p:spPr>
          <a:xfrm>
            <a:off x="5038164" y="4701987"/>
            <a:ext cx="2962838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Personal Norms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1F8B8DA-91C2-4F9D-9C90-E2647900D4DF}"/>
              </a:ext>
            </a:extLst>
          </p:cNvPr>
          <p:cNvCxnSpPr>
            <a:cxnSpLocks/>
            <a:stCxn id="35" idx="6"/>
            <a:endCxn id="36" idx="2"/>
          </p:cNvCxnSpPr>
          <p:nvPr/>
        </p:nvCxnSpPr>
        <p:spPr>
          <a:xfrm>
            <a:off x="4043082" y="5340723"/>
            <a:ext cx="99508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56DC0A-C72A-4AB9-9F79-2DCCA65FC640}"/>
              </a:ext>
            </a:extLst>
          </p:cNvPr>
          <p:cNvCxnSpPr>
            <a:cxnSpLocks/>
            <a:stCxn id="36" idx="0"/>
            <a:endCxn id="12" idx="4"/>
          </p:cNvCxnSpPr>
          <p:nvPr/>
        </p:nvCxnSpPr>
        <p:spPr>
          <a:xfrm flipH="1" flipV="1">
            <a:off x="6519579" y="3845859"/>
            <a:ext cx="4" cy="8561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C3EBEB-2129-4B4C-A8E0-461AE1C9A428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2642346" y="1949825"/>
            <a:ext cx="13447" cy="6185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8456CC-1C21-4342-9F92-256EE9B6918F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2628899" y="3845859"/>
            <a:ext cx="13447" cy="8561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27CE30F-E866-4E02-9CA2-A626A309BA53}"/>
              </a:ext>
            </a:extLst>
          </p:cNvPr>
          <p:cNvSpPr txBox="1"/>
          <p:nvPr/>
        </p:nvSpPr>
        <p:spPr>
          <a:xfrm>
            <a:off x="5226423" y="213103"/>
            <a:ext cx="6238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Value-Belief-Norm Theory (VBN)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85551B-6147-430A-B19A-D9FF2AFDC75E}"/>
              </a:ext>
            </a:extLst>
          </p:cNvPr>
          <p:cNvSpPr/>
          <p:nvPr/>
        </p:nvSpPr>
        <p:spPr>
          <a:xfrm>
            <a:off x="5105396" y="2568388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Pro-environmental Intentions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998797-9321-4A7C-91D4-5E18B412907A}"/>
              </a:ext>
            </a:extLst>
          </p:cNvPr>
          <p:cNvCxnSpPr>
            <a:cxnSpLocks/>
            <a:stCxn id="12" idx="6"/>
            <a:endCxn id="32" idx="2"/>
          </p:cNvCxnSpPr>
          <p:nvPr/>
        </p:nvCxnSpPr>
        <p:spPr>
          <a:xfrm>
            <a:off x="7933762" y="3207124"/>
            <a:ext cx="9278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50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D8AABFC-91BF-44DD-B38A-05C68B4E3F65}"/>
              </a:ext>
            </a:extLst>
          </p:cNvPr>
          <p:cNvSpPr/>
          <p:nvPr/>
        </p:nvSpPr>
        <p:spPr>
          <a:xfrm>
            <a:off x="8861612" y="2568387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Conservationist Behaviours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4BBA9F-652C-4ECA-A4CF-8943C498DC55}"/>
              </a:ext>
            </a:extLst>
          </p:cNvPr>
          <p:cNvSpPr/>
          <p:nvPr/>
        </p:nvSpPr>
        <p:spPr>
          <a:xfrm>
            <a:off x="1591235" y="672353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Attitudes Towards Environment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E58C51-5465-4BA9-BB92-66DDD5B2FB92}"/>
              </a:ext>
            </a:extLst>
          </p:cNvPr>
          <p:cNvSpPr/>
          <p:nvPr/>
        </p:nvSpPr>
        <p:spPr>
          <a:xfrm>
            <a:off x="1603936" y="2151529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Pro-environmental Social Norms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E77DE4-DA4F-447B-A8AB-9CDFFF4BAAC8}"/>
              </a:ext>
            </a:extLst>
          </p:cNvPr>
          <p:cNvSpPr/>
          <p:nvPr/>
        </p:nvSpPr>
        <p:spPr>
          <a:xfrm>
            <a:off x="1603936" y="3630704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Control over Environmental Behaviour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9C0B57-1133-4FE7-94A2-AE6476613ED4}"/>
              </a:ext>
            </a:extLst>
          </p:cNvPr>
          <p:cNvSpPr/>
          <p:nvPr/>
        </p:nvSpPr>
        <p:spPr>
          <a:xfrm>
            <a:off x="5226423" y="2568387"/>
            <a:ext cx="2828366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Pro-environmental Intentions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A352F0-D4A1-4B4E-8321-EE6CD877A1CC}"/>
              </a:ext>
            </a:extLst>
          </p:cNvPr>
          <p:cNvCxnSpPr>
            <a:stCxn id="5" idx="6"/>
            <a:endCxn id="10" idx="1"/>
          </p:cNvCxnSpPr>
          <p:nvPr/>
        </p:nvCxnSpPr>
        <p:spPr>
          <a:xfrm>
            <a:off x="4419601" y="1311089"/>
            <a:ext cx="1221027" cy="14443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253131-3E27-4833-80CB-4789CB170599}"/>
              </a:ext>
            </a:extLst>
          </p:cNvPr>
          <p:cNvCxnSpPr>
            <a:stCxn id="6" idx="6"/>
            <a:endCxn id="10" idx="2"/>
          </p:cNvCxnSpPr>
          <p:nvPr/>
        </p:nvCxnSpPr>
        <p:spPr>
          <a:xfrm>
            <a:off x="4432302" y="2790265"/>
            <a:ext cx="794121" cy="4168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09A676-03FF-4CC4-91FC-A073AE767FDD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4432302" y="3207123"/>
            <a:ext cx="794121" cy="10623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8F8B07-2391-45D7-89B5-9FD8CB6C5052}"/>
              </a:ext>
            </a:extLst>
          </p:cNvPr>
          <p:cNvCxnSpPr>
            <a:stCxn id="10" idx="6"/>
            <a:endCxn id="4" idx="2"/>
          </p:cNvCxnSpPr>
          <p:nvPr/>
        </p:nvCxnSpPr>
        <p:spPr>
          <a:xfrm>
            <a:off x="8054789" y="3207123"/>
            <a:ext cx="8068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B827B981-BE4A-4636-A02D-825F56D09418}"/>
              </a:ext>
            </a:extLst>
          </p:cNvPr>
          <p:cNvCxnSpPr>
            <a:stCxn id="5" idx="2"/>
            <a:endCxn id="6" idx="2"/>
          </p:cNvCxnSpPr>
          <p:nvPr/>
        </p:nvCxnSpPr>
        <p:spPr>
          <a:xfrm rot="10800000" flipH="1" flipV="1">
            <a:off x="1591234" y="1311089"/>
            <a:ext cx="12701" cy="1479176"/>
          </a:xfrm>
          <a:prstGeom prst="curvedConnector3">
            <a:avLst>
              <a:gd name="adj1" fmla="val -1799858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1BBD20F0-56C9-4231-89A3-7C07B8B9375B}"/>
              </a:ext>
            </a:extLst>
          </p:cNvPr>
          <p:cNvCxnSpPr>
            <a:cxnSpLocks/>
            <a:stCxn id="6" idx="2"/>
            <a:endCxn id="7" idx="2"/>
          </p:cNvCxnSpPr>
          <p:nvPr/>
        </p:nvCxnSpPr>
        <p:spPr>
          <a:xfrm rot="10800000" flipV="1">
            <a:off x="1603936" y="2790264"/>
            <a:ext cx="12700" cy="1479175"/>
          </a:xfrm>
          <a:prstGeom prst="curvedConnector3">
            <a:avLst>
              <a:gd name="adj1" fmla="val 1800000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0E2872EA-ACFD-42A7-B0F3-8C2AA8231948}"/>
              </a:ext>
            </a:extLst>
          </p:cNvPr>
          <p:cNvCxnSpPr>
            <a:stCxn id="5" idx="2"/>
            <a:endCxn id="7" idx="2"/>
          </p:cNvCxnSpPr>
          <p:nvPr/>
        </p:nvCxnSpPr>
        <p:spPr>
          <a:xfrm rot="10800000" flipH="1" flipV="1">
            <a:off x="1591234" y="1311088"/>
            <a:ext cx="12701" cy="2958351"/>
          </a:xfrm>
          <a:prstGeom prst="curvedConnector3">
            <a:avLst>
              <a:gd name="adj1" fmla="val -5823069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40C92B3-6461-4AC7-98D1-0BEE08A3424C}"/>
              </a:ext>
            </a:extLst>
          </p:cNvPr>
          <p:cNvSpPr txBox="1"/>
          <p:nvPr/>
        </p:nvSpPr>
        <p:spPr>
          <a:xfrm>
            <a:off x="5226423" y="213103"/>
            <a:ext cx="6440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Adding Personal Norms into TPB?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210194-4036-4232-93E1-E88B653E0DCD}"/>
              </a:ext>
            </a:extLst>
          </p:cNvPr>
          <p:cNvSpPr/>
          <p:nvPr/>
        </p:nvSpPr>
        <p:spPr>
          <a:xfrm>
            <a:off x="1536700" y="5091948"/>
            <a:ext cx="2815664" cy="127747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Personal Norms</a:t>
            </a: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7736CF77-9373-49DA-8073-94DF284C41B7}"/>
              </a:ext>
            </a:extLst>
          </p:cNvPr>
          <p:cNvCxnSpPr>
            <a:cxnSpLocks/>
            <a:stCxn id="7" idx="2"/>
            <a:endCxn id="15" idx="2"/>
          </p:cNvCxnSpPr>
          <p:nvPr/>
        </p:nvCxnSpPr>
        <p:spPr>
          <a:xfrm rot="10800000" flipV="1">
            <a:off x="1536700" y="4269440"/>
            <a:ext cx="67236" cy="1461244"/>
          </a:xfrm>
          <a:prstGeom prst="curvedConnector3">
            <a:avLst>
              <a:gd name="adj1" fmla="val 439996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6BEF981-A6A2-4F59-B0C4-C41BF39AF892}"/>
              </a:ext>
            </a:extLst>
          </p:cNvPr>
          <p:cNvCxnSpPr>
            <a:cxnSpLocks/>
            <a:stCxn id="6" idx="2"/>
            <a:endCxn id="15" idx="2"/>
          </p:cNvCxnSpPr>
          <p:nvPr/>
        </p:nvCxnSpPr>
        <p:spPr>
          <a:xfrm rot="10800000" flipV="1">
            <a:off x="1536700" y="2790264"/>
            <a:ext cx="67236" cy="2940419"/>
          </a:xfrm>
          <a:prstGeom prst="curvedConnector3">
            <a:avLst>
              <a:gd name="adj1" fmla="val 1079990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0A827E11-BFF2-4EB2-84F1-736992BBBCA9}"/>
              </a:ext>
            </a:extLst>
          </p:cNvPr>
          <p:cNvCxnSpPr>
            <a:cxnSpLocks/>
            <a:stCxn id="5" idx="2"/>
            <a:endCxn id="15" idx="2"/>
          </p:cNvCxnSpPr>
          <p:nvPr/>
        </p:nvCxnSpPr>
        <p:spPr>
          <a:xfrm rot="10800000" flipV="1">
            <a:off x="1536701" y="1311088"/>
            <a:ext cx="54535" cy="4419595"/>
          </a:xfrm>
          <a:prstGeom prst="curvedConnector3">
            <a:avLst>
              <a:gd name="adj1" fmla="val 1826036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804A761-6D6C-4FE9-B518-00308686F993}"/>
              </a:ext>
            </a:extLst>
          </p:cNvPr>
          <p:cNvCxnSpPr>
            <a:cxnSpLocks/>
            <a:stCxn id="15" idx="6"/>
            <a:endCxn id="10" idx="3"/>
          </p:cNvCxnSpPr>
          <p:nvPr/>
        </p:nvCxnSpPr>
        <p:spPr>
          <a:xfrm flipV="1">
            <a:off x="4352364" y="3658777"/>
            <a:ext cx="1288264" cy="20719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D426160-13F4-4A78-82B0-15E4A9E79A50}"/>
              </a:ext>
            </a:extLst>
          </p:cNvPr>
          <p:cNvSpPr txBox="1"/>
          <p:nvPr/>
        </p:nvSpPr>
        <p:spPr>
          <a:xfrm>
            <a:off x="4981909" y="4538843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75554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548AE3CC-4FE2-4808-901A-1C26E361B33F}"/>
              </a:ext>
            </a:extLst>
          </p:cNvPr>
          <p:cNvSpPr/>
          <p:nvPr/>
        </p:nvSpPr>
        <p:spPr>
          <a:xfrm rot="2250307">
            <a:off x="6859512" y="1414827"/>
            <a:ext cx="2259107" cy="2259107"/>
          </a:xfrm>
          <a:prstGeom prst="ellipse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>
                    <a:lumMod val="75000"/>
                  </a:schemeClr>
                </a:solidFill>
              </a:rPr>
              <a:t>Perceived Behavioural Control</a:t>
            </a:r>
          </a:p>
          <a:p>
            <a:pPr algn="ctr"/>
            <a:endParaRPr lang="en-GB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F703C7-5E11-4563-884A-CE27A3A1D4D8}"/>
              </a:ext>
            </a:extLst>
          </p:cNvPr>
          <p:cNvSpPr/>
          <p:nvPr/>
        </p:nvSpPr>
        <p:spPr>
          <a:xfrm rot="17682580">
            <a:off x="3700987" y="1450889"/>
            <a:ext cx="2259107" cy="2259107"/>
          </a:xfrm>
          <a:prstGeom prst="ellipse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>
                    <a:lumMod val="75000"/>
                  </a:schemeClr>
                </a:solidFill>
              </a:rPr>
              <a:t>Social Norms</a:t>
            </a:r>
          </a:p>
          <a:p>
            <a:pPr algn="ctr"/>
            <a:endParaRPr lang="en-GB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DB4EC5-FCE1-4CAB-A087-45692D8C8D41}"/>
              </a:ext>
            </a:extLst>
          </p:cNvPr>
          <p:cNvSpPr/>
          <p:nvPr/>
        </p:nvSpPr>
        <p:spPr>
          <a:xfrm>
            <a:off x="5235387" y="744661"/>
            <a:ext cx="2259107" cy="225910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Intentions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802C1B-4B4E-427D-AEB8-BEC315306AE4}"/>
              </a:ext>
            </a:extLst>
          </p:cNvPr>
          <p:cNvSpPr/>
          <p:nvPr/>
        </p:nvSpPr>
        <p:spPr>
          <a:xfrm rot="15545998">
            <a:off x="5275729" y="2366682"/>
            <a:ext cx="2259107" cy="225910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Personal Norms</a:t>
            </a:r>
          </a:p>
          <a:p>
            <a:pPr algn="ctr"/>
            <a:endParaRPr lang="en-GB" sz="1600" dirty="0">
              <a:solidFill>
                <a:sysClr val="windowText" lastClr="000000"/>
              </a:solidFill>
            </a:endParaRPr>
          </a:p>
          <a:p>
            <a:pPr algn="ctr"/>
            <a:endParaRPr lang="en-GB" sz="1600" dirty="0">
              <a:solidFill>
                <a:sysClr val="windowText" lastClr="000000"/>
              </a:solidFill>
            </a:endParaRPr>
          </a:p>
          <a:p>
            <a:pPr algn="ctr"/>
            <a:endParaRPr lang="en-GB" sz="1600" dirty="0">
              <a:solidFill>
                <a:sysClr val="windowText" lastClr="000000"/>
              </a:solidFill>
            </a:endParaRPr>
          </a:p>
          <a:p>
            <a:pPr algn="ctr"/>
            <a:endParaRPr lang="en-GB" sz="1600" dirty="0">
              <a:solidFill>
                <a:sysClr val="windowText" lastClr="000000"/>
              </a:solidFill>
            </a:endParaRPr>
          </a:p>
          <a:p>
            <a:pPr algn="ctr"/>
            <a:endParaRPr lang="en-GB" sz="1600" dirty="0">
              <a:solidFill>
                <a:sysClr val="windowText" lastClr="000000"/>
              </a:solidFill>
            </a:endParaRPr>
          </a:p>
          <a:p>
            <a:pPr algn="ctr"/>
            <a:endParaRPr lang="en-GB" sz="1600" dirty="0">
              <a:solidFill>
                <a:sysClr val="windowText" lastClr="000000"/>
              </a:solidFill>
            </a:endParaRPr>
          </a:p>
          <a:p>
            <a:pPr algn="ctr"/>
            <a:endParaRPr lang="en-GB" sz="1600" dirty="0">
              <a:solidFill>
                <a:sysClr val="windowText" lastClr="000000"/>
              </a:solidFill>
            </a:endParaRPr>
          </a:p>
          <a:p>
            <a:pPr algn="ctr"/>
            <a:endParaRPr lang="en-GB" sz="1600" dirty="0">
              <a:solidFill>
                <a:sysClr val="windowText" lastClr="00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0A6438-F6DA-43F6-9E16-1FF02E53E5B4}"/>
              </a:ext>
            </a:extLst>
          </p:cNvPr>
          <p:cNvSpPr/>
          <p:nvPr/>
        </p:nvSpPr>
        <p:spPr>
          <a:xfrm rot="4476082">
            <a:off x="5577539" y="2354231"/>
            <a:ext cx="2259107" cy="225910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Attitudes</a:t>
            </a: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667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72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17</cp:revision>
  <dcterms:created xsi:type="dcterms:W3CDTF">2026-03-10T09:58:04Z</dcterms:created>
  <dcterms:modified xsi:type="dcterms:W3CDTF">2026-03-11T16:53:41Z</dcterms:modified>
</cp:coreProperties>
</file>